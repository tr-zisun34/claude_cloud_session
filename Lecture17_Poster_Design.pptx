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Lecture 17 on Poster Design. We'll cover the common poster types, standard sizes, and a full production workflow in Adobe Illustrator from document setup through print-ready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roadmap of the lecture: poster types, sizes, the Illustrator workflow, and print finalization.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poster categories, each defined by its intent and audience. Typography and narrative are expressive; infographic and academic are information-dense; promotional posters are built to drive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A-series: every step down halves the area. A3 is the common lecture/class poster size. The US one-sheet movie poster is 24 by 36 inches.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process in four phases. Each gets its own slide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sets up the document correctly so the final print is accurate and clean: CMYK color, 300 ppi raster effects, and a 3 mm bleed on all sides.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2: lay out a grid, lock a full-bleed background, then build a clear type hierarchy — headline, sub-headline, and legible body no smaller than 12 pt for A3.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builds the artwork on organized layers using vectors and clipping masks. Phase 4 makes it print-safe: outline the fonts, export to press-quality PDF, and include the document bleed settings.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match the poster type to the goal, choose the right size, set up CMYK/300ppi/bleed from the start, and export a print-safe PDF with outlined fonts.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D3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Fundamentals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</a:t>
            </a: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17  ·  Poster Design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1338560" y="6419088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45720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2D3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</a:t>
            </a: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45720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640080"/>
            <a:ext cx="1188720" cy="1645920"/>
          </a:xfrm>
          <a:prstGeom prst="roundRect">
            <a:avLst>
              <a:gd name="adj" fmla="val 4615"/>
            </a:avLst>
          </a:prstGeom>
          <a:solidFill>
            <a:srgbClr val="FF5A36"/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1143000"/>
            <a:ext cx="1005840" cy="1371600"/>
          </a:xfrm>
          <a:prstGeom prst="roundRect">
            <a:avLst>
              <a:gd name="adj" fmla="val 5455"/>
            </a:avLst>
          </a:prstGeom>
          <a:solidFill>
            <a:srgbClr val="17A398"/>
          </a:solidFill>
          <a:ln/>
        </p:spPr>
      </p:sp>
      <p:sp>
        <p:nvSpPr>
          <p:cNvPr id="4" name="Shape 2"/>
          <p:cNvSpPr/>
          <p:nvPr/>
        </p:nvSpPr>
        <p:spPr>
          <a:xfrm>
            <a:off x="8321040" y="1234440"/>
            <a:ext cx="914400" cy="1234440"/>
          </a:xfrm>
          <a:prstGeom prst="roundRect">
            <a:avLst>
              <a:gd name="adj" fmla="val 6000"/>
            </a:avLst>
          </a:prstGeom>
          <a:solidFill>
            <a:srgbClr val="F4B9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17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74320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Poster Design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605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sizes, and a step-by-step workflow in Adobe Illustrator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4983480"/>
            <a:ext cx="2011680" cy="0"/>
          </a:xfrm>
          <a:prstGeom prst="line">
            <a:avLst/>
          </a:prstGeom>
          <a:noFill/>
          <a:ln w="38100">
            <a:solidFill>
              <a:srgbClr val="FF5A3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1672" cy="1078992"/>
          </a:xfrm>
          <a:prstGeom prst="roundRect">
            <a:avLst>
              <a:gd name="adj" fmla="val 8475"/>
            </a:avLst>
          </a:prstGeom>
          <a:solidFill>
            <a:srgbClr val="F2F3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55648"/>
            <a:ext cx="676656" cy="676656"/>
          </a:xfrm>
          <a:prstGeom prst="ellipse">
            <a:avLst/>
          </a:prstGeom>
          <a:solidFill>
            <a:srgbClr val="FF5A3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5564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719072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Common Types of Posters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157984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categories defined by intent and audience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1091672" cy="1078992"/>
          </a:xfrm>
          <a:prstGeom prst="roundRect">
            <a:avLst>
              <a:gd name="adj" fmla="val 8475"/>
            </a:avLst>
          </a:prstGeom>
          <a:solidFill>
            <a:srgbClr val="F2F3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926080"/>
            <a:ext cx="676656" cy="676656"/>
          </a:xfrm>
          <a:prstGeom prst="ellipse">
            <a:avLst/>
          </a:prstGeom>
          <a:solidFill>
            <a:srgbClr val="17A39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292608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889504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Standard Poster Sizes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328416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A4 to movie format, in mm and inches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8475"/>
            </a:avLst>
          </a:prstGeom>
          <a:solidFill>
            <a:srgbClr val="F2F3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096512"/>
            <a:ext cx="676656" cy="676656"/>
          </a:xfrm>
          <a:prstGeom prst="ellipse">
            <a:avLst/>
          </a:prstGeom>
          <a:solidFill>
            <a:srgbClr val="7D5BA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409651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4059936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Designing in Illustrator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498848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four-phase, print-ready workflow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065776"/>
            <a:ext cx="11091672" cy="1078992"/>
          </a:xfrm>
          <a:prstGeom prst="roundRect">
            <a:avLst>
              <a:gd name="adj" fmla="val 8475"/>
            </a:avLst>
          </a:prstGeom>
          <a:solidFill>
            <a:srgbClr val="F2F3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5266944"/>
            <a:ext cx="676656" cy="676656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" y="5266944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0" y="5230368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Finalizing for Print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566928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Outlining fonts, bleed, and PDF export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45720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5A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  </a:t>
            </a:r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Common Types of Posters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32688" y="4114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Posters are categorized by their intent and audience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60120" y="3977640"/>
            <a:ext cx="1828800" cy="0"/>
          </a:xfrm>
          <a:prstGeom prst="line">
            <a:avLst/>
          </a:prstGeom>
          <a:noFill/>
          <a:ln w="38100">
            <a:solidFill>
              <a:srgbClr val="FF5A3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Five kinds of posters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83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5A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Typography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entirely on letterforms to convey a message. Great for quotes or minimalist branding.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3520440" cy="2148840"/>
          </a:xfrm>
          <a:prstGeom prst="roundRect">
            <a:avLst>
              <a:gd name="adj" fmla="val 4255"/>
            </a:avLst>
          </a:prstGeom>
          <a:ln w="12700">
            <a:solidFill>
              <a:srgbClr val="E6E8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34256" y="15087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783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D5B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08576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23774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Narrative / Theatrical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283464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visual metaphors to represent a story (a play or movie) rather than a literal scene.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34256" y="1508760"/>
            <a:ext cx="3520440" cy="2148840"/>
          </a:xfrm>
          <a:prstGeom prst="roundRect">
            <a:avLst>
              <a:gd name="adj" fmla="val 4255"/>
            </a:avLst>
          </a:prstGeom>
          <a:ln w="12700">
            <a:solidFill>
              <a:srgbClr val="E6E8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19872" y="15087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94192" y="1783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A39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94192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3774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Infographic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94192" y="283464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data or instructions clearly — educational charts or health awareness.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19872" y="1508760"/>
            <a:ext cx="3520440" cy="2148840"/>
          </a:xfrm>
          <a:prstGeom prst="roundRect">
            <a:avLst>
              <a:gd name="adj" fmla="val 4255"/>
            </a:avLst>
          </a:prstGeom>
          <a:ln w="12700">
            <a:solidFill>
              <a:srgbClr val="E6E8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41448" y="39319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15768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4B94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715768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2715768" y="4800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Promotional / Event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2715768" y="525780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High-energy designs that drive action, with bold dates and locations for festivals or concerts.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441448" y="3931920"/>
            <a:ext cx="3520440" cy="2148840"/>
          </a:xfrm>
          <a:prstGeom prst="roundRect">
            <a:avLst>
              <a:gd name="adj" fmla="val 4255"/>
            </a:avLst>
          </a:prstGeom>
          <a:ln w="12700">
            <a:solidFill>
              <a:srgbClr val="E6E8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27064" y="39319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01384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F86C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01384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501384" y="4800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Research / Academic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501384" y="525780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findings in universities; text-heavy and follow a strict column grid.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27064" y="3931920"/>
            <a:ext cx="3520440" cy="2148840"/>
          </a:xfrm>
          <a:prstGeom prst="roundRect">
            <a:avLst>
              <a:gd name="adj" fmla="val 4255"/>
            </a:avLst>
          </a:prstGeom>
          <a:ln w="12700">
            <a:solidFill>
              <a:srgbClr val="E6E8E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45720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7A39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  </a:t>
            </a:r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Standard Poster Sizes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32688" y="4114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A-series halves with each step — plus the US movie format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60120" y="3977640"/>
            <a:ext cx="1828800" cy="0"/>
          </a:xfrm>
          <a:prstGeom prst="line">
            <a:avLst/>
          </a:prstGeom>
          <a:noFill/>
          <a:ln w="38100">
            <a:solidFill>
              <a:srgbClr val="17A39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Standard poster sizes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858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514600"/>
                <a:gridCol w="25146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Size</a:t>
                      </a:r>
                      <a:endParaRPr lang="en-US" sz="15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Dimensions (mm)</a:t>
                      </a:r>
                      <a:endParaRPr lang="en-US" sz="15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Dimensions (inches)</a:t>
                      </a:r>
                      <a:endParaRPr lang="en-US" sz="15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D3142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A4</a:t>
                      </a:r>
                      <a:endParaRPr lang="en-US" sz="15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C4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 × 297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C4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 × 11.7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D3142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A3</a:t>
                      </a:r>
                      <a:endParaRPr lang="en-US" sz="15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C4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 × 420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C4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 × 16.5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D3142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A2</a:t>
                      </a:r>
                      <a:endParaRPr lang="en-US" sz="15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C4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 × 594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C4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 × 23.4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D3142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A1</a:t>
                      </a:r>
                      <a:endParaRPr lang="en-US" sz="15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C4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594 × 841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C4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 × 33.1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5A36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Movie</a:t>
                      </a:r>
                      <a:endParaRPr lang="en-US" sz="15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C4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 × 914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C4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× 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18120" y="1737360"/>
            <a:ext cx="3749040" cy="4206240"/>
          </a:xfrm>
          <a:prstGeom prst="rect">
            <a:avLst/>
          </a:prstGeom>
          <a:solidFill>
            <a:srgbClr val="2D31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91272" y="179222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818120" y="2410358"/>
            <a:ext cx="3149194" cy="3533242"/>
          </a:xfrm>
          <a:prstGeom prst="rect">
            <a:avLst/>
          </a:prstGeom>
          <a:solidFill>
            <a:srgbClr val="4F86C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91272" y="246522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A2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818120" y="3083357"/>
            <a:ext cx="2549347" cy="2860243"/>
          </a:xfrm>
          <a:prstGeom prst="rect">
            <a:avLst/>
          </a:prstGeom>
          <a:solidFill>
            <a:srgbClr val="17A39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91272" y="3138221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A3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818120" y="3756355"/>
            <a:ext cx="1949501" cy="2187245"/>
          </a:xfrm>
          <a:prstGeom prst="rect">
            <a:avLst/>
          </a:prstGeom>
          <a:solidFill>
            <a:srgbClr val="FF5A3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91272" y="3811219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A4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6080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A-size is half the area of the one before it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45720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7D5BA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  </a:t>
            </a:r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Designing a Poster in Illustrator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32688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phases: Setup → Layout → Graphics → Print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60120" y="3977640"/>
            <a:ext cx="1828800" cy="0"/>
          </a:xfrm>
          <a:prstGeom prst="line">
            <a:avLst/>
          </a:prstGeom>
          <a:noFill/>
          <a:ln w="38100">
            <a:solidFill>
              <a:srgbClr val="7D5BA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four-phase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828800"/>
            <a:ext cx="2697480" cy="3108960"/>
          </a:xfrm>
          <a:prstGeom prst="roundRect">
            <a:avLst>
              <a:gd name="adj" fmla="val 3390"/>
            </a:avLst>
          </a:prstGeom>
          <a:ln w="12700">
            <a:solidFill>
              <a:srgbClr val="E6E8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194560"/>
            <a:ext cx="868680" cy="868680"/>
          </a:xfrm>
          <a:prstGeom prst="ellipse">
            <a:avLst/>
          </a:prstGeom>
          <a:solidFill>
            <a:srgbClr val="FF5A3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463040" y="2194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015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Document Setup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0690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file, units, CMYK, 300 ppi, 3 mm bleed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27832" y="3236976"/>
            <a:ext cx="256032" cy="292608"/>
          </a:xfrm>
          <a:prstGeom prst="chevron">
            <a:avLst/>
          </a:prstGeom>
          <a:solidFill>
            <a:srgbClr val="C7CCD3"/>
          </a:solidFill>
          <a:ln/>
        </p:spPr>
      </p:sp>
      <p:sp>
        <p:nvSpPr>
          <p:cNvPr id="11" name="Shape 9"/>
          <p:cNvSpPr/>
          <p:nvPr/>
        </p:nvSpPr>
        <p:spPr>
          <a:xfrm>
            <a:off x="3419856" y="18288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9856" y="1828800"/>
            <a:ext cx="2697480" cy="3108960"/>
          </a:xfrm>
          <a:prstGeom prst="roundRect">
            <a:avLst>
              <a:gd name="adj" fmla="val 3390"/>
            </a:avLst>
          </a:prstGeom>
          <a:ln w="12700">
            <a:solidFill>
              <a:srgbClr val="E6E8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4256" y="2194560"/>
            <a:ext cx="868680" cy="868680"/>
          </a:xfrm>
          <a:prstGeom prst="ellipse">
            <a:avLst/>
          </a:prstGeom>
          <a:solidFill>
            <a:srgbClr val="17A39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334256" y="2194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602736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02736" y="34015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Building the Layout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648456" y="40690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Grid, locked background, type hierarchy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99048" y="3236976"/>
            <a:ext cx="256032" cy="292608"/>
          </a:xfrm>
          <a:prstGeom prst="chevron">
            <a:avLst/>
          </a:prstGeom>
          <a:solidFill>
            <a:srgbClr val="C7CCD3"/>
          </a:solidFill>
          <a:ln/>
        </p:spPr>
      </p:sp>
      <p:sp>
        <p:nvSpPr>
          <p:cNvPr id="19" name="Shape 17"/>
          <p:cNvSpPr/>
          <p:nvPr/>
        </p:nvSpPr>
        <p:spPr>
          <a:xfrm>
            <a:off x="6291072" y="18288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91072" y="1828800"/>
            <a:ext cx="2697480" cy="3108960"/>
          </a:xfrm>
          <a:prstGeom prst="roundRect">
            <a:avLst>
              <a:gd name="adj" fmla="val 3390"/>
            </a:avLst>
          </a:prstGeom>
          <a:ln w="12700">
            <a:solidFill>
              <a:srgbClr val="E6E8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05472" y="2194560"/>
            <a:ext cx="868680" cy="868680"/>
          </a:xfrm>
          <a:prstGeom prst="ellipse">
            <a:avLst/>
          </a:prstGeom>
          <a:solidFill>
            <a:srgbClr val="7D5BA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205472" y="2194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7D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34015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Graphics &amp; Illustration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519672" y="40690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assets, layers, clipping masks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970264" y="3236976"/>
            <a:ext cx="256032" cy="292608"/>
          </a:xfrm>
          <a:prstGeom prst="chevron">
            <a:avLst/>
          </a:prstGeom>
          <a:solidFill>
            <a:srgbClr val="C7CCD3"/>
          </a:solidFill>
          <a:ln/>
        </p:spPr>
      </p:sp>
      <p:sp>
        <p:nvSpPr>
          <p:cNvPr id="27" name="Shape 25"/>
          <p:cNvSpPr/>
          <p:nvPr/>
        </p:nvSpPr>
        <p:spPr>
          <a:xfrm>
            <a:off x="9162288" y="18288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62288" y="1828800"/>
            <a:ext cx="2697480" cy="3108960"/>
          </a:xfrm>
          <a:prstGeom prst="roundRect">
            <a:avLst>
              <a:gd name="adj" fmla="val 3390"/>
            </a:avLst>
          </a:prstGeom>
          <a:ln w="12700">
            <a:solidFill>
              <a:srgbClr val="E6E8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76688" y="2194560"/>
            <a:ext cx="868680" cy="86868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0076688" y="2194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345168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345168" y="34015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Finalizing for Print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9390888" y="40690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fonts, export press-quality PDF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45720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5A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Phase 1  </a:t>
            </a:r>
            <a:pPr algn="l" indent="0" marL="0">
              <a:buNone/>
            </a:pPr>
            <a:r>
              <a:rPr lang="en-US" sz="32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— Document Setup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&gt; New, then configure the document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841248"/>
          </a:xfrm>
          <a:prstGeom prst="roundRect">
            <a:avLst>
              <a:gd name="adj" fmla="val 10870"/>
            </a:avLst>
          </a:prstGeom>
          <a:solidFill>
            <a:srgbClr val="F2F3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17320" y="189280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Create New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945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File &gt; New to start the document.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6675120" cy="841248"/>
          </a:xfrm>
          <a:prstGeom prst="roundRect">
            <a:avLst>
              <a:gd name="adj" fmla="val 10870"/>
            </a:avLst>
          </a:prstGeom>
          <a:solidFill>
            <a:srgbClr val="F2F3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2935224"/>
            <a:ext cx="402336" cy="402336"/>
          </a:xfrm>
          <a:prstGeom prst="ellipse">
            <a:avLst/>
          </a:prstGeom>
          <a:solidFill>
            <a:srgbClr val="17A39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282549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Units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12724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units to Millimeters or Inches.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48456"/>
            <a:ext cx="6675120" cy="841248"/>
          </a:xfrm>
          <a:prstGeom prst="roundRect">
            <a:avLst>
              <a:gd name="adj" fmla="val 10870"/>
            </a:avLst>
          </a:prstGeom>
          <a:solidFill>
            <a:srgbClr val="F2F3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3867912"/>
            <a:ext cx="402336" cy="402336"/>
          </a:xfrm>
          <a:prstGeom prst="ellipse">
            <a:avLst/>
          </a:prstGeom>
          <a:solidFill>
            <a:srgbClr val="7D5B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17320" y="3758184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Color Mode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05993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CMYK for print, RGB for digital.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81144"/>
            <a:ext cx="6675120" cy="841248"/>
          </a:xfrm>
          <a:prstGeom prst="roundRect">
            <a:avLst>
              <a:gd name="adj" fmla="val 10870"/>
            </a:avLst>
          </a:prstGeom>
          <a:solidFill>
            <a:srgbClr val="F2F3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4800600"/>
            <a:ext cx="402336" cy="402336"/>
          </a:xfrm>
          <a:prstGeom prst="ellipse">
            <a:avLst/>
          </a:prstGeom>
          <a:solidFill>
            <a:srgbClr val="4F86C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417320" y="469087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Raster Effects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99262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 High (300 ppi) for high-quality prints.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513832"/>
            <a:ext cx="6675120" cy="841248"/>
          </a:xfrm>
          <a:prstGeom prst="roundRect">
            <a:avLst>
              <a:gd name="adj" fmla="val 10870"/>
            </a:avLst>
          </a:prstGeom>
          <a:solidFill>
            <a:srgbClr val="F2F3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5733288"/>
            <a:ext cx="402336" cy="402336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417320" y="562356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Bleed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92531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3 mm bleed on all sides to prevent white edges after cutting.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543800" y="1783080"/>
            <a:ext cx="4069080" cy="4572000"/>
          </a:xfrm>
          <a:prstGeom prst="roundRect">
            <a:avLst>
              <a:gd name="adj" fmla="val 2247"/>
            </a:avLst>
          </a:prstGeom>
          <a:solidFill>
            <a:srgbClr val="2D314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81812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5A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818120" y="2468880"/>
            <a:ext cx="3566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CMYK  </a:t>
            </a:r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C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printed colors accurate — RGB is only for screens.</a:t>
            </a:r>
            <a:endParaRPr lang="en-US" sz="14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ppi  </a:t>
            </a:r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C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 effects keep shadows and effects sharp in print.</a:t>
            </a:r>
            <a:endParaRPr lang="en-US" sz="14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mm bleed  </a:t>
            </a:r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C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cutter room so no white edge appears.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45720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7A39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Phase 2  </a:t>
            </a:r>
            <a:pPr algn="l" indent="0" marL="0">
              <a:buNone/>
            </a:pPr>
            <a:r>
              <a:rPr lang="en-US" sz="32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— Building the Layout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2F3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A39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system — </a:t>
            </a:r>
            <a:pPr algn="l"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&gt; Show Grid, or build a custom grid with the Rectangular Grid Tool to keep elements aligned.</a:t>
            </a:r>
            <a:endParaRPr lang="en-US" sz="1350" dirty="0"/>
          </a:p>
          <a:p>
            <a:pPr algn="l"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— </a:t>
            </a:r>
            <a:pPr algn="l"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rectangle covering the whole artboard (including bleed), then lock it (Ctrl + 2).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54864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3794760"/>
            <a:ext cx="5486400" cy="2560320"/>
          </a:xfrm>
          <a:prstGeom prst="roundRect">
            <a:avLst>
              <a:gd name="adj" fmla="val 3571"/>
            </a:avLst>
          </a:prstGeom>
          <a:ln w="12700">
            <a:solidFill>
              <a:srgbClr val="E6E8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Typography hierarchy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416552"/>
            <a:ext cx="109728" cy="457200"/>
          </a:xfrm>
          <a:prstGeom prst="rect">
            <a:avLst/>
          </a:prstGeom>
          <a:solidFill>
            <a:srgbClr val="FF5A3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43708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Headline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4370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bold, and unique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5038344"/>
            <a:ext cx="109728" cy="457200"/>
          </a:xfrm>
          <a:prstGeom prst="rect">
            <a:avLst/>
          </a:prstGeom>
          <a:solidFill>
            <a:srgbClr val="7D5B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49926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Sub-headline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49926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size, clear font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5660136"/>
            <a:ext cx="109728" cy="457200"/>
          </a:xfrm>
          <a:prstGeom prst="rect">
            <a:avLst/>
          </a:prstGeom>
          <a:solidFill>
            <a:srgbClr val="4F86C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56144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Body / Details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56144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but legible — not less than 12 pt for A3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92240" y="1463040"/>
            <a:ext cx="5120640" cy="4892040"/>
          </a:xfrm>
          <a:prstGeom prst="rect">
            <a:avLst/>
          </a:prstGeom>
          <a:solidFill>
            <a:srgbClr val="FFFFFF"/>
          </a:solidFill>
          <a:ln w="31750">
            <a:solidFill>
              <a:srgbClr val="FF5A3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92240" y="283464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5A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Poster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5A3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Design</a:t>
            </a:r>
            <a:endParaRPr lang="en-US" sz="48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6400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Artboard with background, grid alignment, and type hierarchy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45720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D5BA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Phase 3 &amp; 4  </a:t>
            </a:r>
            <a:pPr algn="l" indent="0" marL="0">
              <a:buNone/>
            </a:pPr>
            <a:r>
              <a:rPr lang="en-US" sz="32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— Graphics, then Print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463040"/>
            <a:ext cx="5440680" cy="4892040"/>
          </a:xfrm>
          <a:prstGeom prst="roundRect">
            <a:avLst>
              <a:gd name="adj" fmla="val 1869"/>
            </a:avLst>
          </a:prstGeom>
          <a:ln w="12700">
            <a:solidFill>
              <a:srgbClr val="E6E8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7D5BA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8470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Graphics &amp; Illustration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2770632"/>
            <a:ext cx="146304" cy="146304"/>
          </a:xfrm>
          <a:prstGeom prst="ellipse">
            <a:avLst/>
          </a:prstGeom>
          <a:solidFill>
            <a:srgbClr val="7D5B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07008" y="26974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Vector assets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9992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custom illustrations and motifs with the Pen Tool (P) or Curvature Tool.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886200"/>
            <a:ext cx="146304" cy="146304"/>
          </a:xfrm>
          <a:prstGeom prst="ellipse">
            <a:avLst/>
          </a:prstGeom>
          <a:solidFill>
            <a:srgbClr val="7D5B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7008" y="381304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Layers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114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text, graphics, and background on separate layers to stay organized.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5001768"/>
            <a:ext cx="146304" cy="146304"/>
          </a:xfrm>
          <a:prstGeom prst="ellipse">
            <a:avLst/>
          </a:prstGeom>
          <a:solidFill>
            <a:srgbClr val="7D5B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92861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1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Masking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523036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Clipping Masks (Ctrl + 7) to fit patterns or images into specific shapes.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1463040"/>
            <a:ext cx="5440680" cy="4892040"/>
          </a:xfrm>
          <a:prstGeom prst="roundRect">
            <a:avLst>
              <a:gd name="adj" fmla="val 1869"/>
            </a:avLst>
          </a:prstGeom>
          <a:solidFill>
            <a:srgbClr val="2D314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1783080"/>
            <a:ext cx="640080" cy="64008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922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18470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Finalizing for Print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537960" y="277063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30568" y="26974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Outline fonts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30568" y="299923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all text, then Type &gt; Create Outlines (Ctrl + Shift + O) to prevent font errors at the print shop.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37960" y="388620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30568" y="381304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Export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830568" y="41148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&gt; Save As and choose Adobe PDF.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37960" y="50017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30568" y="492861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PDF preset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830568" y="523036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[Press Quality] and tick "Use Document Bleed Settings" under Marks and Bleeds.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45720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58368" y="1481328"/>
            <a:ext cx="1828800" cy="0"/>
          </a:xfrm>
          <a:prstGeom prst="line">
            <a:avLst/>
          </a:prstGeom>
          <a:noFill/>
          <a:ln w="38100">
            <a:solidFill>
              <a:srgbClr val="FF5A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9659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384056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313432"/>
            <a:ext cx="457200" cy="457200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25856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Match type to purpose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80720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poster category that fits your intent and audience.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384056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313432"/>
            <a:ext cx="457200" cy="457200"/>
          </a:xfrm>
          <a:prstGeom prst="ellipse">
            <a:avLst/>
          </a:prstGeom>
          <a:solidFill>
            <a:srgbClr val="17A39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25856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Know your size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80720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A-series halves each step; A3 is the classic class poster, 24×36" for movies.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384056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507992"/>
            <a:ext cx="457200" cy="457200"/>
          </a:xfrm>
          <a:prstGeom prst="ellipse">
            <a:avLst/>
          </a:prstGeom>
          <a:solidFill>
            <a:srgbClr val="7D5B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4531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Set up for print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500176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CMYK, 300 ppi, and a 3 mm bleed from the very first dialog.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416052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384056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50799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4531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Finish print-safe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500176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fonts and export a press-quality PDF with bleed.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DesignStudio">
  <a:themeElements>
    <a:clrScheme name="PosterDesignStudio">
      <a:dk1>
        <a:srgbClr val="1A1A1A"/>
      </a:dk1>
      <a:lt1>
        <a:srgbClr val="FFFFFF"/>
      </a:lt1>
      <a:dk2>
        <a:srgbClr val="2D3142"/>
      </a:dk2>
      <a:lt2>
        <a:srgbClr val="F2F3F5"/>
      </a:lt2>
      <a:accent1>
        <a:srgbClr val="FF5A36"/>
      </a:accent1>
      <a:accent2>
        <a:srgbClr val="2D3142"/>
      </a:accent2>
      <a:accent3>
        <a:srgbClr val="17A398"/>
      </a:accent3>
      <a:accent4>
        <a:srgbClr val="F4B942"/>
      </a:accent4>
      <a:accent5>
        <a:srgbClr val="7D5BA6"/>
      </a:accent5>
      <a:accent6>
        <a:srgbClr val="4F86C6"/>
      </a:accent6>
      <a:hlink>
        <a:srgbClr val="FF5A36"/>
      </a:hlink>
      <a:folHlink>
        <a:srgbClr val="7D5BA6"/>
      </a:folHlink>
    </a:clrScheme>
    <a:fontScheme name="PosterDesignStudio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Design</dc:title>
  <dc:subject>PptxGenJS Presentation</dc:subject>
  <dc:creator>Lecture Notes</dc:creator>
  <cp:lastModifiedBy>Lecture Notes</cp:lastModifiedBy>
  <cp:revision>1</cp:revision>
  <dcterms:created xsi:type="dcterms:W3CDTF">2026-10-07T06:48:58Z</dcterms:created>
  <dcterms:modified xsi:type="dcterms:W3CDTF">2026-10-07T06:48:58Z</dcterms:modified>
</cp:coreProperties>
</file>